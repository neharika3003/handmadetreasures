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60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7559675" cy="1069181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89" d="100"/>
          <a:sy n="89" d="100"/>
        </p:scale>
        <p:origin x="-1258" y="5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4281488" y="0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374775" y="1336675"/>
            <a:ext cx="4810125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96215548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4775" y="1336675"/>
            <a:ext cx="4810125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0" name="Google Shape;80;p1:notes"/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1:notes"/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  <p:sp>
        <p:nvSpPr>
          <p:cNvPr id="82" name="Google Shape;82;p1:notes"/>
          <p:cNvSpPr txBox="1">
            <a:spLocks noGrp="1"/>
          </p:cNvSpPr>
          <p:nvPr>
            <p:ph type="ftr" idx="11"/>
          </p:nvPr>
        </p:nvSpPr>
        <p:spPr>
          <a:xfrm>
            <a:off x="0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Name of the faculty [Group: G00] [Sem:2nd]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:notes"/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4775" y="1336675"/>
            <a:ext cx="4810125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237b92a95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4775" y="1336675"/>
            <a:ext cx="4810200" cy="3608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d237b92a95_0_2:notes"/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00" cy="4210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g3d237b92a95_0_2:notes"/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d237b92a95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4775" y="1336675"/>
            <a:ext cx="4810200" cy="3608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d237b92a95_0_13:notes"/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00" cy="4210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g3d237b92a95_0_13:notes"/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237b92a95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4775" y="1336675"/>
            <a:ext cx="4810200" cy="3608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237b92a95_0_21:notes"/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00" cy="4210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g3d237b92a95_0_21:notes"/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237b92a95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4775" y="1336675"/>
            <a:ext cx="4810125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237b92a95_0_29:notes"/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00" cy="4210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d237b92a95_0_29:notes"/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237b92a95_0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4775" y="1336675"/>
            <a:ext cx="4810200" cy="3608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d237b92a95_0_37:notes"/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00" cy="4210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g3d237b92a95_0_37:notes"/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d237b92a95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4775" y="1336675"/>
            <a:ext cx="4810200" cy="3608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d237b92a95_0_45:notes"/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00" cy="4210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g3d237b92a95_0_45:notes"/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3:notes"/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4775" y="1336675"/>
            <a:ext cx="4810125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x">
  <p:cSld name="TITLE_AND_BODY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3"/>
          <p:cNvSpPr txBox="1"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3"/>
          <p:cNvSpPr txBox="1">
            <a:spLocks noGrp="1"/>
          </p:cNvSpPr>
          <p:nvPr>
            <p:ph type="subTitle" idx="1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lvl="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lvl="2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lvl="3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lvl="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lvl="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lvl="6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lvl="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lvl="8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4"/>
          <p:cNvSpPr txBox="1">
            <a:spLocks noGrp="1"/>
          </p:cNvSpPr>
          <p:nvPr>
            <p:ph type="body" idx="1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2 Content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1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body" idx="2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6"/>
          <p:cNvSpPr txBox="1"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entered Text" type="objOnly">
  <p:cSld name="OBJECT_ONLY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7"/>
          <p:cNvSpPr txBox="1">
            <a:spLocks noGrp="1"/>
          </p:cNvSpPr>
          <p:nvPr>
            <p:ph type="subTitle" idx="1"/>
          </p:nvPr>
        </p:nvSpPr>
        <p:spPr>
          <a:xfrm>
            <a:off x="0" y="0"/>
            <a:ext cx="5486040" cy="4238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lvl="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lvl="2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lvl="3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lvl="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lvl="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lvl="6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lvl="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lvl="8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2 Content and Content" type="twoObjAndObj">
  <p:cSld name="TWO_OBJECTS_AND_OBJEC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body" idx="1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body" idx="2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3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Content and 2 Content" type="objAndTwoObj">
  <p:cSld name="OBJECT_AND_TWO_OBJECTS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body" idx="1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body" idx="2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9"/>
          <p:cNvSpPr txBox="1">
            <a:spLocks noGrp="1"/>
          </p:cNvSpPr>
          <p:nvPr>
            <p:ph type="body" idx="3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2 Content over Content" type="twoObjOverTx">
  <p:cSld name="TWO_OBJECTS_OVER_TEX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 txBox="1"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1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body" idx="2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body" idx="3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 over Content" type="objOverTx">
  <p:cSld name="OBJECT_OVER_TEXT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1"/>
          <p:cNvSpPr txBox="1"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1"/>
          <p:cNvSpPr txBox="1">
            <a:spLocks noGrp="1"/>
          </p:cNvSpPr>
          <p:nvPr>
            <p:ph type="body" idx="1"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 txBox="1">
            <a:spLocks noGrp="1"/>
          </p:cNvSpPr>
          <p:nvPr>
            <p:ph type="body" idx="2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4 Content" type="fourObj">
  <p:cSld name="FOUR_OBJECTS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2"/>
          <p:cNvSpPr txBox="1"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2"/>
          <p:cNvSpPr txBox="1">
            <a:spLocks noGrp="1"/>
          </p:cNvSpPr>
          <p:nvPr>
            <p:ph type="body" idx="1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7" name="Google Shape;67;p12"/>
          <p:cNvSpPr txBox="1">
            <a:spLocks noGrp="1"/>
          </p:cNvSpPr>
          <p:nvPr>
            <p:ph type="body" idx="2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8" name="Google Shape;68;p12"/>
          <p:cNvSpPr txBox="1">
            <a:spLocks noGrp="1"/>
          </p:cNvSpPr>
          <p:nvPr>
            <p:ph type="body" idx="3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12"/>
          <p:cNvSpPr txBox="1">
            <a:spLocks noGrp="1"/>
          </p:cNvSpPr>
          <p:nvPr>
            <p:ph type="body" idx="4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6 Content">
  <p:cSld name="Title, 6 Conten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3"/>
          <p:cNvSpPr txBox="1"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3"/>
          <p:cNvSpPr txBox="1">
            <a:spLocks noGrp="1"/>
          </p:cNvSpPr>
          <p:nvPr>
            <p:ph type="body" idx="1"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3" name="Google Shape;73;p13"/>
          <p:cNvSpPr txBox="1">
            <a:spLocks noGrp="1"/>
          </p:cNvSpPr>
          <p:nvPr>
            <p:ph type="body" idx="2"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p13"/>
          <p:cNvSpPr txBox="1">
            <a:spLocks noGrp="1"/>
          </p:cNvSpPr>
          <p:nvPr>
            <p:ph type="body" idx="3"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3"/>
          <p:cNvSpPr txBox="1">
            <a:spLocks noGrp="1"/>
          </p:cNvSpPr>
          <p:nvPr>
            <p:ph type="body" idx="4"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5"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body" idx="6"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/>
          <p:nvPr/>
        </p:nvSpPr>
        <p:spPr>
          <a:xfrm>
            <a:off x="0" y="0"/>
            <a:ext cx="9143640" cy="837720"/>
          </a:xfrm>
          <a:prstGeom prst="rect">
            <a:avLst/>
          </a:prstGeom>
          <a:solidFill>
            <a:srgbClr val="FF33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1"/>
          <p:cNvSpPr/>
          <p:nvPr/>
        </p:nvSpPr>
        <p:spPr>
          <a:xfrm rot="10800000" flipH="1">
            <a:off x="0" y="6704640"/>
            <a:ext cx="9143640" cy="19764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2" name="Google Shape;12;p1" descr="LOGO.gif"/>
          <p:cNvPicPr preferRelativeResize="0"/>
          <p:nvPr/>
        </p:nvPicPr>
        <p:blipFill rotWithShape="1">
          <a:blip r:embed="rId14">
            <a:alphaModFix/>
          </a:blip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1" descr="LOGO.gif"/>
          <p:cNvPicPr preferRelativeResize="0"/>
          <p:nvPr/>
        </p:nvPicPr>
        <p:blipFill rotWithShape="1">
          <a:blip r:embed="rId14">
            <a:alphaModFix/>
          </a:blip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" name="Google Shape;14;p1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15" name="Google Shape;15;p1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6" name="Google Shape;16;p1" descr="LOGO.gif"/>
            <p:cNvPicPr preferRelativeResize="0"/>
            <p:nvPr/>
          </p:nvPicPr>
          <p:blipFill rotWithShape="1">
            <a:blip r:embed="rId14">
              <a:alphaModFix/>
            </a:blip>
            <a:srcRect b="10718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" name="Google Shape;17;p1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8" name="Google Shape;18;p1" descr="logo.jpg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1" descr="LOGO.gif"/>
          <p:cNvPicPr preferRelativeResize="0"/>
          <p:nvPr/>
        </p:nvPicPr>
        <p:blipFill rotWithShape="1">
          <a:blip r:embed="rId14">
            <a:alphaModFix/>
          </a:blip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0" name="Google Shape;20;p1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21" name="Google Shape;21;p1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22" name="Google Shape;22;p1" descr="LOGO.gif"/>
            <p:cNvPicPr preferRelativeResize="0"/>
            <p:nvPr/>
          </p:nvPicPr>
          <p:blipFill rotWithShape="1">
            <a:blip r:embed="rId14">
              <a:alphaModFix/>
            </a:blip>
            <a:srcRect b="10718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3" name="Google Shape;23;p1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24" name="Google Shape;24;p1" descr="logo.jpg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5;p1"/>
          <p:cNvSpPr txBox="1">
            <a:spLocks noGrp="1"/>
          </p:cNvSpPr>
          <p:nvPr>
            <p:ph type="title"/>
          </p:nvPr>
        </p:nvSpPr>
        <p:spPr>
          <a:xfrm>
            <a:off x="0" y="0"/>
            <a:ext cx="6476760" cy="837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6" name="Google Shape;26;p1"/>
          <p:cNvSpPr txBox="1">
            <a:spLocks noGrp="1"/>
          </p:cNvSpPr>
          <p:nvPr>
            <p:ph type="body" idx="1"/>
          </p:nvPr>
        </p:nvSpPr>
        <p:spPr>
          <a:xfrm>
            <a:off x="457200" y="1371600"/>
            <a:ext cx="8229240" cy="4525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7" name="Google Shape;27;p1"/>
          <p:cNvSpPr txBox="1"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8" name="Google Shape;28;p1"/>
          <p:cNvSpPr txBox="1"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9" name="Google Shape;29;p1"/>
          <p:cNvSpPr txBox="1"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4"/>
          <p:cNvSpPr txBox="1"/>
          <p:nvPr/>
        </p:nvSpPr>
        <p:spPr>
          <a:xfrm>
            <a:off x="0" y="840631"/>
            <a:ext cx="9144000" cy="5377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 Presentation of </a:t>
            </a:r>
            <a:r>
              <a:rPr lang="en-US" sz="1800" b="1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Copyright</a:t>
            </a:r>
            <a:r>
              <a:rPr lang="en-US" sz="1800" b="1" i="0" u="none" strike="noStrike" cap="none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800" b="1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 </a:t>
            </a:r>
            <a:r>
              <a:rPr lang="en-US" sz="1800" b="1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(COOP)</a:t>
            </a:r>
            <a:endParaRPr sz="1800" b="1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On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Multi-Vendor E-Commerce Platform for Handmade Artisans</a:t>
            </a:r>
            <a:endParaRPr sz="300" b="0" i="1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/>
            </a:r>
            <a:br>
              <a:rPr lang="en-US" sz="2000" b="0" i="0" u="none" strike="noStrike" cap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700" dirty="0" err="1">
                <a:latin typeface="Times New Roman"/>
                <a:ea typeface="Times New Roman"/>
                <a:cs typeface="Times New Roman"/>
                <a:sym typeface="Times New Roman"/>
              </a:rPr>
              <a:t>Raghav</a:t>
            </a:r>
            <a:r>
              <a:rPr lang="en-US" sz="17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700" dirty="0" err="1">
                <a:latin typeface="Times New Roman"/>
                <a:ea typeface="Times New Roman"/>
                <a:cs typeface="Times New Roman"/>
                <a:sym typeface="Times New Roman"/>
              </a:rPr>
              <a:t>Kakkar</a:t>
            </a:r>
            <a:endParaRPr sz="1100" dirty="0"/>
          </a:p>
          <a:p>
            <a:pPr marL="0" marR="0" lvl="0" indent="0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700" dirty="0">
                <a:latin typeface="Times New Roman"/>
                <a:ea typeface="Times New Roman"/>
                <a:cs typeface="Times New Roman"/>
                <a:sym typeface="Times New Roman"/>
              </a:rPr>
              <a:t>2210990698</a:t>
            </a:r>
            <a:endParaRPr sz="17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17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700" dirty="0" err="1">
                <a:latin typeface="Times New Roman"/>
                <a:ea typeface="Times New Roman"/>
                <a:cs typeface="Times New Roman"/>
                <a:sym typeface="Times New Roman"/>
              </a:rPr>
              <a:t>Neharika</a:t>
            </a:r>
            <a:r>
              <a:rPr lang="en-US" sz="1700" dirty="0">
                <a:latin typeface="Times New Roman"/>
                <a:ea typeface="Times New Roman"/>
                <a:cs typeface="Times New Roman"/>
                <a:sym typeface="Times New Roman"/>
              </a:rPr>
              <a:t/>
            </a:r>
            <a:br>
              <a:rPr lang="en-US" sz="170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700" dirty="0">
                <a:latin typeface="Times New Roman"/>
                <a:ea typeface="Times New Roman"/>
                <a:cs typeface="Times New Roman"/>
                <a:sym typeface="Times New Roman"/>
              </a:rPr>
              <a:t>2210990605</a:t>
            </a:r>
            <a:endParaRPr sz="17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17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700" dirty="0" err="1">
                <a:latin typeface="Times New Roman"/>
                <a:ea typeface="Times New Roman"/>
                <a:cs typeface="Times New Roman"/>
                <a:sym typeface="Times New Roman"/>
              </a:rPr>
              <a:t>Mehak</a:t>
            </a:r>
            <a:r>
              <a:rPr lang="en-US" sz="17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700" dirty="0" err="1">
                <a:latin typeface="Times New Roman"/>
                <a:ea typeface="Times New Roman"/>
                <a:cs typeface="Times New Roman"/>
                <a:sym typeface="Times New Roman"/>
              </a:rPr>
              <a:t>sharma</a:t>
            </a:r>
            <a:endParaRPr sz="17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700" dirty="0">
                <a:latin typeface="Times New Roman"/>
                <a:ea typeface="Times New Roman"/>
                <a:cs typeface="Times New Roman"/>
                <a:sym typeface="Times New Roman"/>
              </a:rPr>
              <a:t>2210991919</a:t>
            </a:r>
            <a:endParaRPr sz="17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17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Supervised By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2000" dirty="0">
                <a:latin typeface="Times New Roman"/>
                <a:ea typeface="Times New Roman"/>
                <a:cs typeface="Times New Roman"/>
                <a:sym typeface="Times New Roman"/>
              </a:rPr>
              <a:t>Dr. </a:t>
            </a:r>
            <a:r>
              <a:rPr lang="en-US" sz="2000" dirty="0" err="1">
                <a:latin typeface="Times New Roman"/>
                <a:ea typeface="Times New Roman"/>
                <a:cs typeface="Times New Roman"/>
                <a:sym typeface="Times New Roman"/>
              </a:rPr>
              <a:t>Anshu</a:t>
            </a:r>
            <a:r>
              <a:rPr lang="en-US" sz="20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latin typeface="Times New Roman"/>
                <a:ea typeface="Times New Roman"/>
                <a:cs typeface="Times New Roman"/>
                <a:sym typeface="Times New Roman"/>
              </a:rPr>
              <a:t>Singla</a:t>
            </a:r>
            <a:endParaRPr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Computer Science and Engineering, 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Chitkara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University, Punjab</a:t>
            </a:r>
            <a:endParaRPr dirty="0"/>
          </a:p>
          <a:p>
            <a:pPr marL="0" marR="0" lvl="0" indent="0" algn="ctr" rtl="0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641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5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Problem Background</a:t>
            </a:r>
            <a:endParaRPr sz="30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0" name="Google Shape;90;p15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sz="12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1" name="Google Shape;91;p15"/>
          <p:cNvSpPr txBox="1"/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●"/>
            </a:pP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Rapid growth of digital commerce has increased online competition</a:t>
            </a: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●"/>
            </a:pP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Small-scale handmade artisans (resin, candles, crochet, Lippan art) struggle to reach wider audiences</a:t>
            </a: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●"/>
            </a:pP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Limited technical knowledge and lack of dedicated platforms</a:t>
            </a: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●"/>
            </a:pP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Existing e-commerce platforms are too generic for handmade multi-vendor needs</a:t>
            </a: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●"/>
            </a:pP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Need for a specialized platform to connect artisans with customers</a:t>
            </a: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1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1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1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1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1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1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1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1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1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1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1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/>
          <p:nvPr/>
        </p:nvSpPr>
        <p:spPr>
          <a:xfrm>
            <a:off x="150400" y="1022675"/>
            <a:ext cx="8993700" cy="554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●"/>
            </a:pPr>
            <a:r>
              <a:rPr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Develop a </a:t>
            </a:r>
            <a:r>
              <a:rPr lang="en-US" sz="20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secure and scalable multi-vendor platform</a:t>
            </a:r>
            <a:endParaRPr sz="2000"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●"/>
            </a:pPr>
            <a:r>
              <a:rPr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Provide </a:t>
            </a:r>
            <a:r>
              <a:rPr lang="en-US" sz="20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easy product and order management</a:t>
            </a:r>
            <a:r>
              <a:rPr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for vendors</a:t>
            </a:r>
            <a:endParaRPr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●"/>
            </a:pPr>
            <a:r>
              <a:rPr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Enable </a:t>
            </a:r>
            <a:r>
              <a:rPr lang="en-US" sz="20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smooth browsing and purchasing</a:t>
            </a:r>
            <a:r>
              <a:rPr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for customers</a:t>
            </a:r>
            <a:endParaRPr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●"/>
            </a:pPr>
            <a:r>
              <a:rPr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Offer </a:t>
            </a:r>
            <a:r>
              <a:rPr lang="en-US" sz="20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admin control for monitoring activities</a:t>
            </a:r>
            <a:endParaRPr sz="2000"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●"/>
            </a:pPr>
            <a:r>
              <a:rPr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Support </a:t>
            </a:r>
            <a:r>
              <a:rPr lang="en-US" sz="20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digital growth of small-scale artisans</a:t>
            </a:r>
            <a:endParaRPr sz="2000"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8" name="Google Shape;98;p16"/>
          <p:cNvSpPr txBox="1">
            <a:spLocks noGrp="1"/>
          </p:cNvSpPr>
          <p:nvPr>
            <p:ph type="title"/>
          </p:nvPr>
        </p:nvSpPr>
        <p:spPr>
          <a:xfrm>
            <a:off x="376000" y="0"/>
            <a:ext cx="5486100" cy="914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/>
              <a:t>Objective of the Project</a:t>
            </a:r>
            <a:endParaRPr sz="32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7"/>
          <p:cNvSpPr txBox="1">
            <a:spLocks noGrp="1"/>
          </p:cNvSpPr>
          <p:nvPr>
            <p:ph type="title"/>
          </p:nvPr>
        </p:nvSpPr>
        <p:spPr>
          <a:xfrm>
            <a:off x="285750" y="0"/>
            <a:ext cx="5486100" cy="914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latin typeface="Times New Roman"/>
                <a:ea typeface="Times New Roman"/>
                <a:cs typeface="Times New Roman"/>
                <a:sym typeface="Times New Roman"/>
              </a:rPr>
              <a:t>Proposed Solution / System Overview</a:t>
            </a:r>
            <a:endParaRPr sz="3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5" name="Google Shape;105;p17"/>
          <p:cNvSpPr txBox="1">
            <a:spLocks noGrp="1"/>
          </p:cNvSpPr>
          <p:nvPr>
            <p:ph type="body" idx="1"/>
          </p:nvPr>
        </p:nvSpPr>
        <p:spPr>
          <a:xfrm>
            <a:off x="457200" y="1604520"/>
            <a:ext cx="8229300" cy="397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 lnSpcReduction="10000"/>
          </a:bodyPr>
          <a:lstStyle/>
          <a:p>
            <a:pPr marL="457200" lvl="0" indent="-355600" algn="l" rtl="0">
              <a:spcBef>
                <a:spcPts val="1000"/>
              </a:spcBef>
              <a:spcAft>
                <a:spcPts val="0"/>
              </a:spcAft>
              <a:buSzPts val="2000"/>
              <a:buFont typeface="Times New Roman"/>
              <a:buChar char="●"/>
            </a:pP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Centralized multi-vendor e-commerce platform</a:t>
            </a: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55600" algn="l" rtl="0">
              <a:spcBef>
                <a:spcPts val="1000"/>
              </a:spcBef>
              <a:spcAft>
                <a:spcPts val="0"/>
              </a:spcAft>
              <a:buSzPts val="2000"/>
              <a:buFont typeface="Times New Roman"/>
              <a:buChar char="●"/>
            </a:pP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Helps artisans create an online presence and sell products</a:t>
            </a: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55600" algn="l" rtl="0">
              <a:spcBef>
                <a:spcPts val="1000"/>
              </a:spcBef>
              <a:spcAft>
                <a:spcPts val="0"/>
              </a:spcAft>
              <a:buSzPts val="2000"/>
              <a:buFont typeface="Times New Roman"/>
              <a:buChar char="●"/>
            </a:pP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Features:</a:t>
            </a: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Times New Roman"/>
              <a:buChar char="○"/>
            </a:pP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Role-based authentication system</a:t>
            </a: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Times New Roman"/>
              <a:buChar char="○"/>
            </a:pP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Vendor onboarding and product management</a:t>
            </a: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Times New Roman"/>
              <a:buChar char="○"/>
            </a:pP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Admin dashboard for monitoring and reporting</a:t>
            </a: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556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2000"/>
              <a:buChar char="●"/>
            </a:pP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Designed with </a:t>
            </a:r>
            <a:r>
              <a:rPr lang="en-US" sz="2000" b="1">
                <a:latin typeface="Times New Roman"/>
                <a:ea typeface="Times New Roman"/>
                <a:cs typeface="Times New Roman"/>
                <a:sym typeface="Times New Roman"/>
              </a:rPr>
              <a:t>data security and copyright protection</a:t>
            </a:r>
            <a:endParaRPr sz="2000" b="1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8"/>
          <p:cNvSpPr txBox="1">
            <a:spLocks noGrp="1"/>
          </p:cNvSpPr>
          <p:nvPr>
            <p:ph type="title"/>
          </p:nvPr>
        </p:nvSpPr>
        <p:spPr>
          <a:xfrm>
            <a:off x="285750" y="0"/>
            <a:ext cx="5486100" cy="914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Key Features</a:t>
            </a:r>
            <a:endParaRPr sz="3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2" name="Google Shape;112;p18"/>
          <p:cNvSpPr txBox="1">
            <a:spLocks noGrp="1"/>
          </p:cNvSpPr>
          <p:nvPr>
            <p:ph type="body" idx="1"/>
          </p:nvPr>
        </p:nvSpPr>
        <p:spPr>
          <a:xfrm>
            <a:off x="457200" y="1604520"/>
            <a:ext cx="8229300" cy="397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457200" lvl="0" indent="-355600" algn="l" rtl="0">
              <a:spcBef>
                <a:spcPts val="1000"/>
              </a:spcBef>
              <a:spcAft>
                <a:spcPts val="0"/>
              </a:spcAft>
              <a:buSzPts val="2000"/>
              <a:buFont typeface="Times New Roman"/>
              <a:buChar char="●"/>
            </a:pPr>
            <a:r>
              <a:rPr lang="en-US" sz="2000" b="1">
                <a:latin typeface="Times New Roman"/>
                <a:ea typeface="Times New Roman"/>
                <a:cs typeface="Times New Roman"/>
                <a:sym typeface="Times New Roman"/>
              </a:rPr>
              <a:t>User Management:</a:t>
            </a: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 Secure login for users, vendors, and admin</a:t>
            </a: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55600" algn="l" rtl="0">
              <a:spcBef>
                <a:spcPts val="1000"/>
              </a:spcBef>
              <a:spcAft>
                <a:spcPts val="0"/>
              </a:spcAft>
              <a:buSzPts val="2000"/>
              <a:buFont typeface="Times New Roman"/>
              <a:buChar char="●"/>
            </a:pPr>
            <a:r>
              <a:rPr lang="en-US" sz="2000" b="1">
                <a:latin typeface="Times New Roman"/>
                <a:ea typeface="Times New Roman"/>
                <a:cs typeface="Times New Roman"/>
                <a:sym typeface="Times New Roman"/>
              </a:rPr>
              <a:t>Vendor Dashboard:</a:t>
            </a: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 Product listing, inventory, order tracking</a:t>
            </a: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55600" algn="l" rtl="0">
              <a:spcBef>
                <a:spcPts val="1000"/>
              </a:spcBef>
              <a:spcAft>
                <a:spcPts val="0"/>
              </a:spcAft>
              <a:buSzPts val="2000"/>
              <a:buFont typeface="Times New Roman"/>
              <a:buChar char="●"/>
            </a:pPr>
            <a:r>
              <a:rPr lang="en-US" sz="2000" b="1">
                <a:latin typeface="Times New Roman"/>
                <a:ea typeface="Times New Roman"/>
                <a:cs typeface="Times New Roman"/>
                <a:sym typeface="Times New Roman"/>
              </a:rPr>
              <a:t>Customer Interface:</a:t>
            </a: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 Search, filter, cart, and order tracking</a:t>
            </a: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55600" algn="l" rtl="0">
              <a:spcBef>
                <a:spcPts val="1000"/>
              </a:spcBef>
              <a:spcAft>
                <a:spcPts val="0"/>
              </a:spcAft>
              <a:buSzPts val="2000"/>
              <a:buFont typeface="Times New Roman"/>
              <a:buChar char="●"/>
            </a:pPr>
            <a:r>
              <a:rPr lang="en-US" sz="2000" b="1">
                <a:latin typeface="Times New Roman"/>
                <a:ea typeface="Times New Roman"/>
                <a:cs typeface="Times New Roman"/>
                <a:sym typeface="Times New Roman"/>
              </a:rPr>
              <a:t>Admin Panel:</a:t>
            </a: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 Vendor approval, category &amp; order management</a:t>
            </a: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55600" algn="l" rtl="0">
              <a:spcBef>
                <a:spcPts val="1000"/>
              </a:spcBef>
              <a:spcAft>
                <a:spcPts val="0"/>
              </a:spcAft>
              <a:buSzPts val="2000"/>
              <a:buFont typeface="Times New Roman"/>
              <a:buChar char="●"/>
            </a:pPr>
            <a:r>
              <a:rPr lang="en-US" sz="2000" b="1">
                <a:latin typeface="Times New Roman"/>
                <a:ea typeface="Times New Roman"/>
                <a:cs typeface="Times New Roman"/>
                <a:sym typeface="Times New Roman"/>
              </a:rPr>
              <a:t>Security:</a:t>
            </a: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 Encrypted passwords and JWT authentication</a:t>
            </a: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9"/>
          <p:cNvSpPr txBox="1">
            <a:spLocks noGrp="1"/>
          </p:cNvSpPr>
          <p:nvPr>
            <p:ph type="title"/>
          </p:nvPr>
        </p:nvSpPr>
        <p:spPr>
          <a:xfrm>
            <a:off x="285750" y="0"/>
            <a:ext cx="5486100" cy="914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latin typeface="Times New Roman"/>
                <a:ea typeface="Times New Roman"/>
                <a:cs typeface="Times New Roman"/>
                <a:sym typeface="Times New Roman"/>
              </a:rPr>
              <a:t>Technology Used</a:t>
            </a:r>
            <a:endParaRPr sz="3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9" name="Google Shape;119;p19"/>
          <p:cNvSpPr txBox="1">
            <a:spLocks noGrp="1"/>
          </p:cNvSpPr>
          <p:nvPr>
            <p:ph type="body" idx="1"/>
          </p:nvPr>
        </p:nvSpPr>
        <p:spPr>
          <a:xfrm>
            <a:off x="457200" y="1604520"/>
            <a:ext cx="8229300" cy="397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457200" lvl="0" indent="-355600" algn="l" rtl="0">
              <a:spcBef>
                <a:spcPts val="1000"/>
              </a:spcBef>
              <a:spcAft>
                <a:spcPts val="0"/>
              </a:spcAft>
              <a:buSzPts val="2000"/>
              <a:buFont typeface="Times New Roman"/>
              <a:buChar char="●"/>
            </a:pPr>
            <a:r>
              <a:rPr lang="en-US" sz="2000" b="1" dirty="0">
                <a:latin typeface="Times New Roman"/>
                <a:ea typeface="Times New Roman"/>
                <a:cs typeface="Times New Roman"/>
                <a:sym typeface="Times New Roman"/>
              </a:rPr>
              <a:t>Database:</a:t>
            </a:r>
            <a:r>
              <a:rPr lang="en-US" sz="20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 smtClean="0">
                <a:latin typeface="Times New Roman"/>
                <a:ea typeface="Times New Roman"/>
                <a:cs typeface="Times New Roman"/>
                <a:sym typeface="Times New Roman"/>
              </a:rPr>
              <a:t>MongoDB</a:t>
            </a:r>
            <a:r>
              <a:rPr lang="en-US" sz="2000" dirty="0" smtClean="0">
                <a:latin typeface="Times New Roman"/>
                <a:ea typeface="Times New Roman"/>
                <a:cs typeface="Times New Roman"/>
                <a:sym typeface="Times New Roman"/>
              </a:rPr>
              <a:t> as a </a:t>
            </a:r>
            <a:r>
              <a:rPr lang="en-US" sz="2000" dirty="0" err="1" smtClean="0">
                <a:latin typeface="Times New Roman"/>
                <a:ea typeface="Times New Roman"/>
                <a:cs typeface="Times New Roman"/>
                <a:sym typeface="Times New Roman"/>
              </a:rPr>
              <a:t>NoSQL</a:t>
            </a:r>
            <a:r>
              <a:rPr lang="en-US" sz="2000" smtClean="0">
                <a:latin typeface="Times New Roman"/>
                <a:ea typeface="Times New Roman"/>
                <a:cs typeface="Times New Roman"/>
                <a:sym typeface="Times New Roman"/>
              </a:rPr>
              <a:t> database</a:t>
            </a: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0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55600" algn="l" rtl="0">
              <a:spcBef>
                <a:spcPts val="1000"/>
              </a:spcBef>
              <a:spcAft>
                <a:spcPts val="0"/>
              </a:spcAft>
              <a:buSzPts val="2000"/>
              <a:buFont typeface="Times New Roman"/>
              <a:buChar char="●"/>
            </a:pPr>
            <a:r>
              <a:rPr lang="en-US" sz="2000" b="1" dirty="0">
                <a:latin typeface="Times New Roman"/>
                <a:ea typeface="Times New Roman"/>
                <a:cs typeface="Times New Roman"/>
                <a:sym typeface="Times New Roman"/>
              </a:rPr>
              <a:t>Backend:</a:t>
            </a:r>
            <a:r>
              <a:rPr lang="en-US" sz="2000" dirty="0">
                <a:latin typeface="Times New Roman"/>
                <a:ea typeface="Times New Roman"/>
                <a:cs typeface="Times New Roman"/>
                <a:sym typeface="Times New Roman"/>
              </a:rPr>
              <a:t> REST APIs with JWT-based authentication</a:t>
            </a:r>
            <a:endParaRPr sz="20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0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55600" algn="l" rtl="0">
              <a:spcBef>
                <a:spcPts val="1000"/>
              </a:spcBef>
              <a:spcAft>
                <a:spcPts val="0"/>
              </a:spcAft>
              <a:buSzPts val="2000"/>
              <a:buFont typeface="Times New Roman"/>
              <a:buChar char="●"/>
            </a:pPr>
            <a:r>
              <a:rPr lang="en-US" sz="2000" b="1" dirty="0">
                <a:latin typeface="Times New Roman"/>
                <a:ea typeface="Times New Roman"/>
                <a:cs typeface="Times New Roman"/>
                <a:sym typeface="Times New Roman"/>
              </a:rPr>
              <a:t>Frontend:</a:t>
            </a:r>
            <a:r>
              <a:rPr lang="en-US" sz="2000" dirty="0">
                <a:latin typeface="Times New Roman"/>
                <a:ea typeface="Times New Roman"/>
                <a:cs typeface="Times New Roman"/>
                <a:sym typeface="Times New Roman"/>
              </a:rPr>
              <a:t> Responsive and user-friendly UI</a:t>
            </a:r>
            <a:endParaRPr sz="20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0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55600" algn="l" rtl="0">
              <a:spcBef>
                <a:spcPts val="1000"/>
              </a:spcBef>
              <a:spcAft>
                <a:spcPts val="0"/>
              </a:spcAft>
              <a:buSzPts val="2000"/>
              <a:buFont typeface="Times New Roman"/>
              <a:buChar char="●"/>
            </a:pPr>
            <a:r>
              <a:rPr lang="en-US" sz="2000" b="1" dirty="0">
                <a:latin typeface="Times New Roman"/>
                <a:ea typeface="Times New Roman"/>
                <a:cs typeface="Times New Roman"/>
                <a:sym typeface="Times New Roman"/>
              </a:rPr>
              <a:t>Security:</a:t>
            </a:r>
            <a:r>
              <a:rPr lang="en-US" sz="2000" dirty="0">
                <a:latin typeface="Times New Roman"/>
                <a:ea typeface="Times New Roman"/>
                <a:cs typeface="Times New Roman"/>
                <a:sym typeface="Times New Roman"/>
              </a:rPr>
              <a:t> Role-based access and password encryption</a:t>
            </a:r>
            <a:endParaRPr sz="20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0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55600" algn="l" rtl="0">
              <a:spcBef>
                <a:spcPts val="1000"/>
              </a:spcBef>
              <a:spcAft>
                <a:spcPts val="0"/>
              </a:spcAft>
              <a:buSzPts val="2000"/>
              <a:buFont typeface="Times New Roman"/>
              <a:buChar char="●"/>
            </a:pPr>
            <a:r>
              <a:rPr lang="en-US" sz="2000" b="1" dirty="0">
                <a:latin typeface="Times New Roman"/>
                <a:ea typeface="Times New Roman"/>
                <a:cs typeface="Times New Roman"/>
                <a:sym typeface="Times New Roman"/>
              </a:rPr>
              <a:t>Architecture:</a:t>
            </a:r>
            <a:r>
              <a:rPr lang="en-US" sz="2000" dirty="0">
                <a:latin typeface="Times New Roman"/>
                <a:ea typeface="Times New Roman"/>
                <a:cs typeface="Times New Roman"/>
                <a:sym typeface="Times New Roman"/>
              </a:rPr>
              <a:t> Modular and scalable system design</a:t>
            </a:r>
            <a:endParaRPr sz="20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0"/>
          <p:cNvSpPr txBox="1">
            <a:spLocks noGrp="1"/>
          </p:cNvSpPr>
          <p:nvPr>
            <p:ph type="title"/>
          </p:nvPr>
        </p:nvSpPr>
        <p:spPr>
          <a:xfrm>
            <a:off x="240650" y="0"/>
            <a:ext cx="5486100" cy="914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latin typeface="Times New Roman"/>
                <a:ea typeface="Times New Roman"/>
                <a:cs typeface="Times New Roman"/>
                <a:sym typeface="Times New Roman"/>
              </a:rPr>
              <a:t>Expected Outcomes &amp; Benefits</a:t>
            </a:r>
            <a:endParaRPr sz="3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6" name="Google Shape;126;p20"/>
          <p:cNvSpPr txBox="1">
            <a:spLocks noGrp="1"/>
          </p:cNvSpPr>
          <p:nvPr>
            <p:ph type="body" idx="1"/>
          </p:nvPr>
        </p:nvSpPr>
        <p:spPr>
          <a:xfrm>
            <a:off x="457200" y="1604520"/>
            <a:ext cx="8229300" cy="397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 fontScale="92500" lnSpcReduction="10000"/>
          </a:bodyPr>
          <a:lstStyle/>
          <a:p>
            <a:pPr marL="457200" lvl="0" indent="-346075" algn="l" rtl="0">
              <a:spcBef>
                <a:spcPts val="1000"/>
              </a:spcBef>
              <a:spcAft>
                <a:spcPts val="0"/>
              </a:spcAft>
              <a:buSzPct val="100000"/>
              <a:buFont typeface="Times New Roman"/>
              <a:buChar char="●"/>
            </a:pP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User-friendly online marketplace for handmade products</a:t>
            </a: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46075" algn="l" rtl="0">
              <a:spcBef>
                <a:spcPts val="1000"/>
              </a:spcBef>
              <a:spcAft>
                <a:spcPts val="0"/>
              </a:spcAft>
              <a:buSzPct val="100000"/>
              <a:buFont typeface="Times New Roman"/>
              <a:buChar char="●"/>
            </a:pP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Increased visibility and income for artisans</a:t>
            </a: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46075" algn="l" rtl="0">
              <a:spcBef>
                <a:spcPts val="1000"/>
              </a:spcBef>
              <a:spcAft>
                <a:spcPts val="0"/>
              </a:spcAft>
              <a:buSzPct val="100000"/>
              <a:buFont typeface="Times New Roman"/>
              <a:buChar char="●"/>
            </a:pP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Simplified vendor product and order management</a:t>
            </a: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46075" algn="l" rtl="0">
              <a:spcBef>
                <a:spcPts val="1000"/>
              </a:spcBef>
              <a:spcAft>
                <a:spcPts val="0"/>
              </a:spcAft>
              <a:buSzPct val="100000"/>
              <a:buFont typeface="Times New Roman"/>
              <a:buChar char="●"/>
            </a:pP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Secure and seamless customer experience</a:t>
            </a: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46075" algn="l" rtl="0">
              <a:spcBef>
                <a:spcPts val="1000"/>
              </a:spcBef>
              <a:spcAft>
                <a:spcPts val="0"/>
              </a:spcAft>
              <a:buSzPct val="100000"/>
              <a:buFont typeface="Times New Roman"/>
              <a:buChar char="●"/>
            </a:pP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Efficient admin monitoring and control</a:t>
            </a: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46075" algn="l" rtl="0">
              <a:spcBef>
                <a:spcPts val="1000"/>
              </a:spcBef>
              <a:spcAft>
                <a:spcPts val="0"/>
              </a:spcAft>
              <a:buSzPct val="100000"/>
              <a:buFont typeface="Times New Roman"/>
              <a:buChar char="●"/>
            </a:pP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Ensures </a:t>
            </a:r>
            <a:r>
              <a:rPr lang="en-US" sz="2000" b="1">
                <a:latin typeface="Times New Roman"/>
                <a:ea typeface="Times New Roman"/>
                <a:cs typeface="Times New Roman"/>
                <a:sym typeface="Times New Roman"/>
              </a:rPr>
              <a:t>long-term scalability and software protection</a:t>
            </a:r>
            <a:endParaRPr sz="2000" b="1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1"/>
          <p:cNvSpPr txBox="1">
            <a:spLocks noGrp="1"/>
          </p:cNvSpPr>
          <p:nvPr>
            <p:ph type="title"/>
          </p:nvPr>
        </p:nvSpPr>
        <p:spPr>
          <a:xfrm>
            <a:off x="225600" y="0"/>
            <a:ext cx="5486100" cy="914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latin typeface="Times New Roman"/>
                <a:ea typeface="Times New Roman"/>
                <a:cs typeface="Times New Roman"/>
                <a:sym typeface="Times New Roman"/>
              </a:rPr>
              <a:t>Original Contribution</a:t>
            </a:r>
            <a:endParaRPr sz="3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3" name="Google Shape;133;p21"/>
          <p:cNvSpPr txBox="1">
            <a:spLocks noGrp="1"/>
          </p:cNvSpPr>
          <p:nvPr>
            <p:ph type="body" idx="1"/>
          </p:nvPr>
        </p:nvSpPr>
        <p:spPr>
          <a:xfrm>
            <a:off x="457200" y="1604520"/>
            <a:ext cx="8229300" cy="397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457200" lvl="0" indent="-355600" algn="l" rtl="0">
              <a:spcBef>
                <a:spcPts val="1000"/>
              </a:spcBef>
              <a:spcAft>
                <a:spcPts val="0"/>
              </a:spcAft>
              <a:buSzPts val="2000"/>
              <a:buFont typeface="Times New Roman"/>
              <a:buChar char="●"/>
            </a:pP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Completely </a:t>
            </a:r>
            <a:r>
              <a:rPr lang="en-US" sz="2000" b="1">
                <a:latin typeface="Times New Roman"/>
                <a:ea typeface="Times New Roman"/>
                <a:cs typeface="Times New Roman"/>
                <a:sym typeface="Times New Roman"/>
              </a:rPr>
              <a:t>original and independent project implementation</a:t>
            </a:r>
            <a:endParaRPr sz="2000" b="1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000" b="1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55600" algn="l" rtl="0">
              <a:spcBef>
                <a:spcPts val="1000"/>
              </a:spcBef>
              <a:spcAft>
                <a:spcPts val="0"/>
              </a:spcAft>
              <a:buSzPts val="2000"/>
              <a:buFont typeface="Times New Roman"/>
              <a:buChar char="●"/>
            </a:pP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Unique system design, database structure, and functionality</a:t>
            </a: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55600" algn="l" rtl="0">
              <a:spcBef>
                <a:spcPts val="1000"/>
              </a:spcBef>
              <a:spcAft>
                <a:spcPts val="0"/>
              </a:spcAft>
              <a:buSzPts val="2000"/>
              <a:buFont typeface="Times New Roman"/>
              <a:buChar char="●"/>
            </a:pP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No replication of existing proprietary systems</a:t>
            </a: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2"/>
          <p:cNvSpPr txBox="1"/>
          <p:nvPr/>
        </p:nvSpPr>
        <p:spPr>
          <a:xfrm>
            <a:off x="1297577" y="2821578"/>
            <a:ext cx="6705599" cy="1410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Thank You</a:t>
            </a:r>
            <a:endParaRPr sz="54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9" name="Google Shape;139;p22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9</a:t>
            </a:fld>
            <a:endParaRPr sz="12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324</Words>
  <Application>Microsoft Office PowerPoint</Application>
  <PresentationFormat>On-screen Show (4:3)</PresentationFormat>
  <Paragraphs>108</Paragraphs>
  <Slides>9</Slides>
  <Notes>9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Objective of the Project</vt:lpstr>
      <vt:lpstr>Proposed Solution / System Overview</vt:lpstr>
      <vt:lpstr>Key Features</vt:lpstr>
      <vt:lpstr>Technology Used</vt:lpstr>
      <vt:lpstr>Expected Outcomes &amp; Benefits</vt:lpstr>
      <vt:lpstr>Original Contribution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Acer</dc:creator>
  <cp:lastModifiedBy>Acer</cp:lastModifiedBy>
  <cp:revision>2</cp:revision>
  <dcterms:modified xsi:type="dcterms:W3CDTF">2026-05-19T09:25:22Z</dcterms:modified>
</cp:coreProperties>
</file>